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5199975" cy="35999738"/>
  <p:notesSz cx="35999738" cy="2519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248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58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19995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4617720"/>
            <a:ext cx="25199950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23919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Holon Institute of Technology  -  Faculty of Sciences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239197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SOC-Copilot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91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Triage for Authentication Anomalies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036276"/>
            <a:ext cx="11777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for Cybersecurity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2025/26  -  Semester B (Spring)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2782855" y="2944178"/>
            <a:ext cx="11777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Lecturers:  </a:t>
            </a: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 Kojukhov &amp; V. Nefedov</a:t>
            </a:r>
            <a:endParaRPr lang="en-US" sz="5400" dirty="0"/>
          </a:p>
          <a:p>
            <a:pPr marL="0" indent="0" algn="r">
              <a:buNone/>
            </a:pPr>
            <a:r>
              <a:rPr lang="en-US" sz="5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 </a:t>
            </a: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Hefetz &amp; Bar Koldanov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811154"/>
            <a:ext cx="2391979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640080" y="5303520"/>
            <a:ext cx="16459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097280" y="4832842"/>
            <a:ext cx="23462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640080" y="5862714"/>
            <a:ext cx="23919790" cy="57958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13" name="Text 11"/>
          <p:cNvSpPr/>
          <p:nvPr/>
        </p:nvSpPr>
        <p:spPr>
          <a:xfrm>
            <a:off x="1097280" y="5760726"/>
            <a:ext cx="2300539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SOC analysts face two compounding failures: alert fatigue (thousands of events per day, most are noise) and a context gap (raw telemetry is not yet mapped to MITRE ATT&amp;CK techniques or recommended responses). The result is genuine intrusions dismissed as noise, a documented failure mode in major breaches.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three components, each with a sharp job: an unsupervised anomaly detector for cheap detection, a deterministic rule-based mapper for auditable MITRE attribution, and a constrained LLM agent for analyst-friendly explanation. The LLM never sees raw threat-intel data, so it cannot invent technique IDs.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Train an Isolation Forest on benign-only authentication events; (2) build a rule-based MITRE mapper covering T1110.001, T1110.003 and T1078; (3) integrate an AG2 LLM agent that summarises every alert in plain English, grounded in the mapper output; (4) expose the system via Chainlit with a persistent audit trail; (5) evaluate detection on held-out data and on four scripted adversarial scenarios.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11822722"/>
            <a:ext cx="117312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640080" y="11658600"/>
            <a:ext cx="16459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51560" y="11775830"/>
            <a:ext cx="11274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Methodology &amp; Architecture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640080" y="12921174"/>
            <a:ext cx="11731295" cy="946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1188720" y="13030200"/>
            <a:ext cx="10634015" cy="1371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1463040" y="13030200"/>
            <a:ext cx="1008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event</a:t>
            </a:r>
            <a:endParaRPr lang="en-US" sz="3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SIEM telemetry  -&gt;  feature vector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6368567" y="14401800"/>
            <a:ext cx="274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1188720" y="14813280"/>
            <a:ext cx="10634015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463040" y="14813280"/>
            <a:ext cx="1008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detector</a:t>
            </a:r>
            <a:endParaRPr lang="en-US" sz="3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trained on benign-only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6368567" y="16184880"/>
            <a:ext cx="274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188720" y="16596360"/>
            <a:ext cx="10634015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1463040" y="16596360"/>
            <a:ext cx="1008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mapper</a:t>
            </a:r>
            <a:endParaRPr lang="en-US" sz="3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chain (T1110, T1078)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368567" y="17967960"/>
            <a:ext cx="274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1188720" y="18379440"/>
            <a:ext cx="10634015" cy="1371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1463040" y="18379440"/>
            <a:ext cx="1008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Triage Agent</a:t>
            </a:r>
            <a:endParaRPr lang="en-US" sz="3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  -  grounded in mapper output only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6368567" y="19751040"/>
            <a:ext cx="274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1188720" y="20162520"/>
            <a:ext cx="10634015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1463040" y="20162520"/>
            <a:ext cx="1008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UI + audit log</a:t>
            </a:r>
            <a:endParaRPr lang="en-US" sz="34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Chainlit Steps  +  traffic_logs.log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1188719" y="21607974"/>
            <a:ext cx="10634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constrained by architecture, not just by prompt: it never sees raw threat-intel data, so it cannot invent technique IDs.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12828575" y="11822722"/>
            <a:ext cx="117312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12828575" y="11658600"/>
            <a:ext cx="16459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13240055" y="11775830"/>
            <a:ext cx="11274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 &amp; Evaluation</a:t>
            </a:r>
            <a:endParaRPr lang="en-US" sz="5400" dirty="0"/>
          </a:p>
        </p:txBody>
      </p:sp>
      <p:sp>
        <p:nvSpPr>
          <p:cNvPr id="36" name="Shape 34"/>
          <p:cNvSpPr/>
          <p:nvPr/>
        </p:nvSpPr>
        <p:spPr>
          <a:xfrm>
            <a:off x="12828575" y="12921174"/>
            <a:ext cx="11731295" cy="946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7" name="Shape 35"/>
          <p:cNvSpPr/>
          <p:nvPr/>
        </p:nvSpPr>
        <p:spPr>
          <a:xfrm>
            <a:off x="13377215" y="13030200"/>
            <a:ext cx="3392272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13377215" y="13121640"/>
            <a:ext cx="339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0.996</a:t>
            </a:r>
            <a:endParaRPr lang="en-US" sz="6000" dirty="0"/>
          </a:p>
        </p:txBody>
      </p:sp>
      <p:sp>
        <p:nvSpPr>
          <p:cNvPr id="39" name="Text 37"/>
          <p:cNvSpPr/>
          <p:nvPr/>
        </p:nvSpPr>
        <p:spPr>
          <a:xfrm>
            <a:off x="13377215" y="14036040"/>
            <a:ext cx="339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16998086" y="13030200"/>
            <a:ext cx="3392272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16998086" y="13121640"/>
            <a:ext cx="339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6000" dirty="0"/>
          </a:p>
        </p:txBody>
      </p:sp>
      <p:sp>
        <p:nvSpPr>
          <p:cNvPr id="42" name="Text 40"/>
          <p:cNvSpPr/>
          <p:nvPr/>
        </p:nvSpPr>
        <p:spPr>
          <a:xfrm>
            <a:off x="16998086" y="14036040"/>
            <a:ext cx="339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20618958" y="13030200"/>
            <a:ext cx="3392272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Text 42"/>
          <p:cNvSpPr/>
          <p:nvPr/>
        </p:nvSpPr>
        <p:spPr>
          <a:xfrm>
            <a:off x="20618958" y="13121640"/>
            <a:ext cx="339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45" name="Text 43"/>
          <p:cNvSpPr/>
          <p:nvPr/>
        </p:nvSpPr>
        <p:spPr>
          <a:xfrm>
            <a:off x="20618958" y="14036040"/>
            <a:ext cx="339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Faithful*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13377215" y="15224760"/>
            <a:ext cx="10634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Per-technique recall (test set, n=2,500)</a:t>
            </a:r>
            <a:endParaRPr lang="en-US" sz="3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77215" y="15819120"/>
          <a:ext cx="10634014" cy="2377440"/>
        </p:xfrm>
        <a:graphic>
          <a:graphicData uri="http://schemas.openxmlformats.org/drawingml/2006/table">
            <a:tbl>
              <a:tblPr/>
              <a:tblGrid>
                <a:gridCol w="5848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Technique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T1110.001 Brute Force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T1110.003 Password Spraying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 Valid Accounts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320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64 %</a:t>
                      </a:r>
                      <a:endParaRPr lang="en-US" sz="3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 45"/>
          <p:cNvSpPr/>
          <p:nvPr/>
        </p:nvSpPr>
        <p:spPr>
          <a:xfrm>
            <a:off x="13377215" y="18516600"/>
            <a:ext cx="10634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scenarios.  </a:t>
            </a: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brute force 100 %  -  spraying 100 %  -  valid accounts 65 %  -  evasive (attacker mimics benign) </a:t>
            </a: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r>
              <a:rPr lang="en-US" sz="3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0 % is the honest limit of per-event detection; cross-event correlation is needed for that case (see Discussions).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13377215" y="21671280"/>
            <a:ext cx="10634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LLM faithfulness: % of explanations whose claims all trace to mapper output, manual review n=20.</a:t>
            </a:r>
            <a:endParaRPr lang="en-US" sz="2400" dirty="0"/>
          </a:p>
        </p:txBody>
      </p:sp>
      <p:sp>
        <p:nvSpPr>
          <p:cNvPr id="50" name="Shape 47"/>
          <p:cNvSpPr/>
          <p:nvPr/>
        </p:nvSpPr>
        <p:spPr>
          <a:xfrm>
            <a:off x="640080" y="22722840"/>
            <a:ext cx="2391979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48"/>
          <p:cNvSpPr/>
          <p:nvPr/>
        </p:nvSpPr>
        <p:spPr>
          <a:xfrm>
            <a:off x="640080" y="22722840"/>
            <a:ext cx="16459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Text 49"/>
          <p:cNvSpPr/>
          <p:nvPr/>
        </p:nvSpPr>
        <p:spPr>
          <a:xfrm>
            <a:off x="1051560" y="22722840"/>
            <a:ext cx="23462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Conclusions</a:t>
            </a:r>
            <a:endParaRPr lang="en-US" sz="5400" dirty="0"/>
          </a:p>
        </p:txBody>
      </p:sp>
      <p:sp>
        <p:nvSpPr>
          <p:cNvPr id="53" name="Shape 50"/>
          <p:cNvSpPr/>
          <p:nvPr/>
        </p:nvSpPr>
        <p:spPr>
          <a:xfrm>
            <a:off x="640080" y="23774400"/>
            <a:ext cx="23919790" cy="43621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4" name="Text 51"/>
          <p:cNvSpPr/>
          <p:nvPr/>
        </p:nvSpPr>
        <p:spPr>
          <a:xfrm>
            <a:off x="1097280" y="24094440"/>
            <a:ext cx="2300539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achieved.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objectives in §1 were met: trained Isolation Forest (ROC-AUC 0.996); deterministic mapper covering three MITRE techniques; AG2 triage agent grounded in mapper output (100 % faithfulness on 20-sample manual review); Chainlit MVP with JSONL audit log; quantitative evaluation on held-out data and four scripted scenarios.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targets.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to *approach* a supervised baseline without using labels at training. The unsupervised model reaches recall 0.95 while training on benign rows only - matching the project pitch. The model is strongest where the signal is loud (T1110 variants, 100 % recall) and weakest where the signal is genuinely sparse (T1078, 64 %). This honest gradient is a *result*, not a defect - it tells the SOC operator exactly where to deploy compensating controls.</a:t>
            </a:r>
            <a:endParaRPr lang="en-US" sz="3400" dirty="0"/>
          </a:p>
        </p:txBody>
      </p:sp>
      <p:sp>
        <p:nvSpPr>
          <p:cNvPr id="55" name="Shape 52"/>
          <p:cNvSpPr/>
          <p:nvPr/>
        </p:nvSpPr>
        <p:spPr>
          <a:xfrm>
            <a:off x="640080" y="28346400"/>
            <a:ext cx="2391979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Shape 53"/>
          <p:cNvSpPr/>
          <p:nvPr/>
        </p:nvSpPr>
        <p:spPr>
          <a:xfrm>
            <a:off x="640080" y="28346400"/>
            <a:ext cx="164592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4"/>
          <p:cNvSpPr/>
          <p:nvPr/>
        </p:nvSpPr>
        <p:spPr>
          <a:xfrm>
            <a:off x="1051560" y="28346400"/>
            <a:ext cx="234625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Discussions &amp; Future Work</a:t>
            </a:r>
            <a:endParaRPr lang="en-US" sz="5400" dirty="0"/>
          </a:p>
        </p:txBody>
      </p:sp>
      <p:sp>
        <p:nvSpPr>
          <p:cNvPr id="58" name="Shape 55"/>
          <p:cNvSpPr/>
          <p:nvPr/>
        </p:nvSpPr>
        <p:spPr>
          <a:xfrm>
            <a:off x="640080" y="29306520"/>
            <a:ext cx="23919790" cy="66017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9" name="Text 56"/>
          <p:cNvSpPr/>
          <p:nvPr/>
        </p:nvSpPr>
        <p:spPr>
          <a:xfrm>
            <a:off x="1074420" y="29525976"/>
            <a:ext cx="17336110" cy="5321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iterations.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Cross-event correlation.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0 % detection on the evasive T1078 scenario is the limit of per-event reasoning. Adding impossible-travel and first-time-from-this-IP-ever signals defeats the Volt-Typhoon SOHO-router playbook.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synthetic generator with a 30-day rolling window of the customer's own auth logs and add drift monitoring on feature distributions.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expansion.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top-20 enterprise MITRE techniques; route low-confidence cases to a retrieval-augmented LLM call grounded in STIX.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grouping.  </a:t>
            </a:r>
            <a:r>
              <a:rPr lang="en-US" sz="3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correlated events keyed on source IP / user over a sliding window into single incidents.</a:t>
            </a:r>
            <a:endParaRPr lang="en-US" sz="3400" dirty="0"/>
          </a:p>
        </p:txBody>
      </p:sp>
      <p:sp>
        <p:nvSpPr>
          <p:cNvPr id="60" name="Shape 57"/>
          <p:cNvSpPr/>
          <p:nvPr/>
        </p:nvSpPr>
        <p:spPr>
          <a:xfrm>
            <a:off x="18524829" y="29306520"/>
            <a:ext cx="5486400" cy="5047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Shape 58"/>
          <p:cNvSpPr/>
          <p:nvPr/>
        </p:nvSpPr>
        <p:spPr>
          <a:xfrm>
            <a:off x="18524830" y="29809440"/>
            <a:ext cx="5486400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Text 59"/>
          <p:cNvSpPr/>
          <p:nvPr/>
        </p:nvSpPr>
        <p:spPr>
          <a:xfrm>
            <a:off x="18399710" y="29208537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3400" dirty="0"/>
          </a:p>
        </p:txBody>
      </p:sp>
      <p:sp>
        <p:nvSpPr>
          <p:cNvPr id="106" name="Text 103"/>
          <p:cNvSpPr/>
          <p:nvPr/>
        </p:nvSpPr>
        <p:spPr>
          <a:xfrm>
            <a:off x="18671362" y="34451991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</a:t>
            </a:r>
            <a:endParaRPr lang="en-US" sz="3000" dirty="0"/>
          </a:p>
        </p:txBody>
      </p:sp>
      <p:sp>
        <p:nvSpPr>
          <p:cNvPr id="107" name="Text 104"/>
          <p:cNvSpPr/>
          <p:nvPr/>
        </p:nvSpPr>
        <p:spPr>
          <a:xfrm>
            <a:off x="18694222" y="350626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github.com/steve2great/HIT-ai-cybersecurity</a:t>
            </a:r>
            <a:endParaRPr lang="en-US" sz="2200" dirty="0"/>
          </a:p>
        </p:txBody>
      </p:sp>
      <p:pic>
        <p:nvPicPr>
          <p:cNvPr id="109" name="תמונה 108">
            <a:extLst>
              <a:ext uri="{FF2B5EF4-FFF2-40B4-BE49-F238E27FC236}">
                <a16:creationId xmlns:a16="http://schemas.microsoft.com/office/drawing/2014/main" id="{F3694179-EA17-D11B-ACE8-6ACC3B5B3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9697" y="30239012"/>
            <a:ext cx="3726809" cy="3739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734</Words>
  <Application>Microsoft Office PowerPoint</Application>
  <PresentationFormat>מותאם אישית</PresentationFormat>
  <Paragraphs>65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SOC-Copilot — AI-Assisted Triage for Authentication Anomalies</dc:title>
  <dc:subject>PptxGenJS Presentation</dc:subject>
  <dc:creator>Stav Hefetz &amp; Bar Koldanov</dc:creator>
  <cp:lastModifiedBy>Bar Koldanov</cp:lastModifiedBy>
  <cp:revision>2</cp:revision>
  <dcterms:created xsi:type="dcterms:W3CDTF">2026-06-20T09:57:37Z</dcterms:created>
  <dcterms:modified xsi:type="dcterms:W3CDTF">2026-06-20T11:25:36Z</dcterms:modified>
</cp:coreProperties>
</file>