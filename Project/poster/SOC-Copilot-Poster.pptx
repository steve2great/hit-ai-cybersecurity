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199950" cy="35999928"/>
  <p:notesSz cx="35999928" cy="2519995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199950" cy="4754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617720"/>
            <a:ext cx="25199950" cy="13716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239197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Holon Institute of Technology  -  Faculty of Sciences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2391979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SOC-Copilot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23919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Triage for Authentication Anomalies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3154680"/>
            <a:ext cx="117770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 </a:t>
            </a:r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AI for Cybersecurity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2025/26  -  Semester B (Spring)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2782855" y="3154680"/>
            <a:ext cx="117770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Lecturers:  </a:t>
            </a:r>
            <a:pPr algn="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A. Kojukhov &amp; V. Nefedov</a:t>
            </a:r>
            <a:endParaRPr lang="en-US" sz="5400" dirty="0"/>
          </a:p>
          <a:p>
            <a:pPr algn="r" indent="0" marL="0">
              <a:buNone/>
            </a:pPr>
            <a:r>
              <a:rPr lang="en-US" sz="5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Students:  </a:t>
            </a:r>
            <a:pPr algn="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Stav Hefetz &amp; Bar Koldanov</a:t>
            </a:r>
            <a:endParaRPr lang="en-US" sz="5400" dirty="0"/>
          </a:p>
        </p:txBody>
      </p:sp>
      <p:sp>
        <p:nvSpPr>
          <p:cNvPr id="9" name="Shape 7"/>
          <p:cNvSpPr/>
          <p:nvPr/>
        </p:nvSpPr>
        <p:spPr>
          <a:xfrm>
            <a:off x="640080" y="5303520"/>
            <a:ext cx="23919790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5303520"/>
            <a:ext cx="164592" cy="9601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5303520"/>
            <a:ext cx="234625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Introduction</a:t>
            </a:r>
            <a:endParaRPr lang="en-US" sz="5400" dirty="0"/>
          </a:p>
        </p:txBody>
      </p:sp>
      <p:sp>
        <p:nvSpPr>
          <p:cNvPr id="12" name="Shape 10"/>
          <p:cNvSpPr/>
          <p:nvPr/>
        </p:nvSpPr>
        <p:spPr>
          <a:xfrm>
            <a:off x="640080" y="6355080"/>
            <a:ext cx="2391979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97280" y="6675120"/>
            <a:ext cx="2300539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problem.  </a:t>
            </a:r>
            <a:pPr algn="l" indent="0" marL="0">
              <a:spcAft>
                <a:spcPts val="600"/>
              </a:spcAft>
              <a:buNone/>
            </a:pPr>
            <a:r>
              <a:rPr lang="en-US" sz="3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Tier-1 SOC analysts face two compounding failures: alert fatigue (thousands of events per day, most are noise) and a context gap (raw telemetry is not yet mapped to MITRE ATT&amp;CK techniques or recommended responses). The result is genuine intrusions dismissed as noise, a documented failure mode in major breaches.</a:t>
            </a:r>
            <a:endParaRPr lang="en-US" sz="3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Rationale.  </a:t>
            </a:r>
            <a:pPr algn="l" indent="0" marL="0">
              <a:spcAft>
                <a:spcPts val="600"/>
              </a:spcAft>
              <a:buNone/>
            </a:pPr>
            <a:r>
              <a:rPr lang="en-US" sz="3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three components, each with a sharp job: an unsupervised anomaly detector for cheap detection, a deterministic rule-based mapper for auditable MITRE attribution, and a constrained LLM agent for analyst-friendly explanation. The LLM never sees raw threat-intel data, so it cannot invent technique IDs.</a:t>
            </a:r>
            <a:endParaRPr lang="en-US" sz="3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 &amp; objectives.  </a:t>
            </a:r>
            <a:pPr algn="l" indent="0" marL="0">
              <a:spcAft>
                <a:spcPts val="600"/>
              </a:spcAft>
              <a:buNone/>
            </a:pPr>
            <a:r>
              <a:rPr lang="en-US" sz="3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Train an Isolation Forest on benign-only authentication events; (2) build a rule-based MITRE mapper covering T1110.001, T1110.003 and T1078; (3) integrate an AG2 LLM agent that summarises every alert in plain English, grounded in the mapper output; (4) expose the system via Chainlit with a persistent audit trail; (5) evaluate detection on held-out data and on four scripted adversarial scenarios.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640080" y="11658600"/>
            <a:ext cx="117312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11658600"/>
            <a:ext cx="164592" cy="9601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11658600"/>
            <a:ext cx="112740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Methodology &amp; Architecture</a:t>
            </a:r>
            <a:endParaRPr lang="en-US" sz="5400" dirty="0"/>
          </a:p>
        </p:txBody>
      </p:sp>
      <p:sp>
        <p:nvSpPr>
          <p:cNvPr id="17" name="Shape 15"/>
          <p:cNvSpPr/>
          <p:nvPr/>
        </p:nvSpPr>
        <p:spPr>
          <a:xfrm>
            <a:off x="640080" y="12710160"/>
            <a:ext cx="11731295" cy="9464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188720" y="13030200"/>
            <a:ext cx="10634015" cy="13716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463040" y="13030200"/>
            <a:ext cx="10085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event</a:t>
            </a:r>
            <a:endParaRPr lang="en-US" sz="34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SIEM telemetry  -&gt;  feature vector</a:t>
            </a:r>
            <a:endParaRPr lang="en-US" sz="3400" dirty="0"/>
          </a:p>
        </p:txBody>
      </p:sp>
      <p:sp>
        <p:nvSpPr>
          <p:cNvPr id="20" name="Shape 18"/>
          <p:cNvSpPr/>
          <p:nvPr/>
        </p:nvSpPr>
        <p:spPr>
          <a:xfrm>
            <a:off x="6368567" y="14401800"/>
            <a:ext cx="274320" cy="4114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88720" y="14813280"/>
            <a:ext cx="10634015" cy="13716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63040" y="14813280"/>
            <a:ext cx="10085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detector</a:t>
            </a:r>
            <a:endParaRPr lang="en-US" sz="34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trees, trained on benign-only</a:t>
            </a:r>
            <a:endParaRPr lang="en-US" sz="3400" dirty="0"/>
          </a:p>
        </p:txBody>
      </p:sp>
      <p:sp>
        <p:nvSpPr>
          <p:cNvPr id="23" name="Shape 21"/>
          <p:cNvSpPr/>
          <p:nvPr/>
        </p:nvSpPr>
        <p:spPr>
          <a:xfrm>
            <a:off x="6368567" y="16184880"/>
            <a:ext cx="274320" cy="4114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88720" y="16596360"/>
            <a:ext cx="10634015" cy="13716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63040" y="16596360"/>
            <a:ext cx="10085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mapper</a:t>
            </a:r>
            <a:endParaRPr lang="en-US" sz="34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rule chain (T1110, T1078)</a:t>
            </a:r>
            <a:endParaRPr lang="en-US" sz="3400" dirty="0"/>
          </a:p>
        </p:txBody>
      </p:sp>
      <p:sp>
        <p:nvSpPr>
          <p:cNvPr id="26" name="Shape 24"/>
          <p:cNvSpPr/>
          <p:nvPr/>
        </p:nvSpPr>
        <p:spPr>
          <a:xfrm>
            <a:off x="6368567" y="17967960"/>
            <a:ext cx="274320" cy="4114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8720" y="18379440"/>
            <a:ext cx="10634015" cy="13716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463040" y="18379440"/>
            <a:ext cx="10085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Triage Agent</a:t>
            </a:r>
            <a:endParaRPr lang="en-US" sz="34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AG2  -  grounded in mapper output only</a:t>
            </a:r>
            <a:endParaRPr lang="en-US" sz="3400" dirty="0"/>
          </a:p>
        </p:txBody>
      </p:sp>
      <p:sp>
        <p:nvSpPr>
          <p:cNvPr id="29" name="Shape 27"/>
          <p:cNvSpPr/>
          <p:nvPr/>
        </p:nvSpPr>
        <p:spPr>
          <a:xfrm>
            <a:off x="6368567" y="19751040"/>
            <a:ext cx="274320" cy="4114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88720" y="20162520"/>
            <a:ext cx="10634015" cy="13716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463040" y="20162520"/>
            <a:ext cx="10085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UI + audit log</a:t>
            </a:r>
            <a:endParaRPr lang="en-US" sz="34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Chainlit Steps  +  traffic_logs.log</a:t>
            </a:r>
            <a:endParaRPr lang="en-US" sz="3400" dirty="0"/>
          </a:p>
        </p:txBody>
      </p:sp>
      <p:sp>
        <p:nvSpPr>
          <p:cNvPr id="32" name="Text 30"/>
          <p:cNvSpPr/>
          <p:nvPr/>
        </p:nvSpPr>
        <p:spPr>
          <a:xfrm>
            <a:off x="1188720" y="21762720"/>
            <a:ext cx="106340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is constrained by architecture, not just by prompt: it never sees raw threat-intel data, so it cannot invent technique IDs.</a:t>
            </a:r>
            <a:endParaRPr lang="en-US" sz="3200" dirty="0"/>
          </a:p>
        </p:txBody>
      </p:sp>
      <p:sp>
        <p:nvSpPr>
          <p:cNvPr id="33" name="Shape 31"/>
          <p:cNvSpPr/>
          <p:nvPr/>
        </p:nvSpPr>
        <p:spPr>
          <a:xfrm>
            <a:off x="12828575" y="11658600"/>
            <a:ext cx="117312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2828575" y="11658600"/>
            <a:ext cx="164592" cy="9601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240055" y="11658600"/>
            <a:ext cx="112740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Results &amp; Evaluation</a:t>
            </a:r>
            <a:endParaRPr lang="en-US" sz="5400" dirty="0"/>
          </a:p>
        </p:txBody>
      </p:sp>
      <p:sp>
        <p:nvSpPr>
          <p:cNvPr id="36" name="Shape 34"/>
          <p:cNvSpPr/>
          <p:nvPr/>
        </p:nvSpPr>
        <p:spPr>
          <a:xfrm>
            <a:off x="12828575" y="12710160"/>
            <a:ext cx="11731295" cy="9464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3377215" y="13030200"/>
            <a:ext cx="3392272" cy="17830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3377215" y="13121640"/>
            <a:ext cx="3392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0.996</a:t>
            </a:r>
            <a:endParaRPr lang="en-US" sz="6000" dirty="0"/>
          </a:p>
        </p:txBody>
      </p:sp>
      <p:sp>
        <p:nvSpPr>
          <p:cNvPr id="39" name="Text 37"/>
          <p:cNvSpPr/>
          <p:nvPr/>
        </p:nvSpPr>
        <p:spPr>
          <a:xfrm>
            <a:off x="13377215" y="14036040"/>
            <a:ext cx="3392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2800" dirty="0"/>
          </a:p>
        </p:txBody>
      </p:sp>
      <p:sp>
        <p:nvSpPr>
          <p:cNvPr id="40" name="Shape 38"/>
          <p:cNvSpPr/>
          <p:nvPr/>
        </p:nvSpPr>
        <p:spPr>
          <a:xfrm>
            <a:off x="16998086" y="13030200"/>
            <a:ext cx="3392272" cy="17830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6998086" y="13121640"/>
            <a:ext cx="3392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0.95</a:t>
            </a:r>
            <a:endParaRPr lang="en-US" sz="6000" dirty="0"/>
          </a:p>
        </p:txBody>
      </p:sp>
      <p:sp>
        <p:nvSpPr>
          <p:cNvPr id="42" name="Text 40"/>
          <p:cNvSpPr/>
          <p:nvPr/>
        </p:nvSpPr>
        <p:spPr>
          <a:xfrm>
            <a:off x="16998086" y="14036040"/>
            <a:ext cx="3392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2800" dirty="0"/>
          </a:p>
        </p:txBody>
      </p:sp>
      <p:sp>
        <p:nvSpPr>
          <p:cNvPr id="43" name="Shape 41"/>
          <p:cNvSpPr/>
          <p:nvPr/>
        </p:nvSpPr>
        <p:spPr>
          <a:xfrm>
            <a:off x="20618958" y="13030200"/>
            <a:ext cx="3392272" cy="17830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618958" y="13121640"/>
            <a:ext cx="3392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6000" dirty="0"/>
          </a:p>
        </p:txBody>
      </p:sp>
      <p:sp>
        <p:nvSpPr>
          <p:cNvPr id="45" name="Text 43"/>
          <p:cNvSpPr/>
          <p:nvPr/>
        </p:nvSpPr>
        <p:spPr>
          <a:xfrm>
            <a:off x="20618958" y="14036040"/>
            <a:ext cx="3392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Faithful*</a:t>
            </a:r>
            <a:endParaRPr lang="en-US" sz="2800" dirty="0"/>
          </a:p>
        </p:txBody>
      </p:sp>
      <p:sp>
        <p:nvSpPr>
          <p:cNvPr id="46" name="Text 44"/>
          <p:cNvSpPr/>
          <p:nvPr/>
        </p:nvSpPr>
        <p:spPr>
          <a:xfrm>
            <a:off x="13377215" y="15224760"/>
            <a:ext cx="10634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Per-technique recall (test set, n=2,500)</a:t>
            </a:r>
            <a:endParaRPr lang="en-US" sz="3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377215" y="15819120"/>
          <a:ext cx="10634015" cy="914400"/>
        </p:xfrm>
        <a:graphic>
          <a:graphicData uri="http://schemas.openxmlformats.org/drawingml/2006/table">
            <a:tbl>
              <a:tblPr/>
              <a:tblGrid>
                <a:gridCol w="5848708"/>
                <a:gridCol w="1595102"/>
                <a:gridCol w="3190204"/>
              </a:tblGrid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3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MITRE Technique</a:t>
                      </a:r>
                      <a:endParaRPr lang="en-US" sz="3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3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3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3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3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3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T1110.001 Brute Force</a:t>
                      </a:r>
                      <a:endParaRPr lang="en-US" sz="3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3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3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32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3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3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T1110.003 Password Spraying</a:t>
                      </a:r>
                      <a:endParaRPr lang="en-US" sz="3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3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3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32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3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3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T1078 Valid Accounts</a:t>
                      </a:r>
                      <a:endParaRPr lang="en-US" sz="3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3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3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3200" b="1" dirty="0">
                          <a:solidFill>
                            <a:srgbClr val="CA8A0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64 %</a:t>
                      </a:r>
                      <a:endParaRPr lang="en-US" sz="3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8" name="Text 45"/>
          <p:cNvSpPr/>
          <p:nvPr/>
        </p:nvSpPr>
        <p:spPr>
          <a:xfrm>
            <a:off x="13377215" y="18516600"/>
            <a:ext cx="106340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scenarios.  </a:t>
            </a:r>
            <a:pPr algn="l" indent="0" marL="0">
              <a:buNone/>
            </a:pPr>
            <a:r>
              <a:rPr lang="en-US" sz="3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Burst brute force 100 %  -  spraying 100 %  -  valid accounts 65 %  -  evasive (attacker mimics benign) </a:t>
            </a:r>
            <a:pPr algn="l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0 %</a:t>
            </a:r>
            <a:pPr algn="l" indent="0" marL="0">
              <a:buNone/>
            </a:pPr>
            <a:r>
              <a:rPr lang="en-US" sz="3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The 0 % is the honest limit of per-event detection; cross-event correlation is needed for that case (see Discussions).</a:t>
            </a:r>
            <a:endParaRPr lang="en-US" sz="3200" dirty="0"/>
          </a:p>
        </p:txBody>
      </p:sp>
      <p:sp>
        <p:nvSpPr>
          <p:cNvPr id="49" name="Text 46"/>
          <p:cNvSpPr/>
          <p:nvPr/>
        </p:nvSpPr>
        <p:spPr>
          <a:xfrm>
            <a:off x="13377215" y="21671280"/>
            <a:ext cx="106340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LLM faithfulness: % of explanations whose claims all trace to mapper output, manual review n=20.</a:t>
            </a:r>
            <a:endParaRPr lang="en-US" sz="2400" dirty="0"/>
          </a:p>
        </p:txBody>
      </p:sp>
      <p:sp>
        <p:nvSpPr>
          <p:cNvPr id="50" name="Shape 47"/>
          <p:cNvSpPr/>
          <p:nvPr/>
        </p:nvSpPr>
        <p:spPr>
          <a:xfrm>
            <a:off x="640080" y="22722840"/>
            <a:ext cx="23919790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40080" y="22722840"/>
            <a:ext cx="164592" cy="9601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1051560" y="22722840"/>
            <a:ext cx="234625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Conclusions</a:t>
            </a:r>
            <a:endParaRPr lang="en-US" sz="5400" dirty="0"/>
          </a:p>
        </p:txBody>
      </p:sp>
      <p:sp>
        <p:nvSpPr>
          <p:cNvPr id="53" name="Shape 50"/>
          <p:cNvSpPr/>
          <p:nvPr/>
        </p:nvSpPr>
        <p:spPr>
          <a:xfrm>
            <a:off x="640080" y="23774400"/>
            <a:ext cx="2391979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4" name="Text 51"/>
          <p:cNvSpPr/>
          <p:nvPr/>
        </p:nvSpPr>
        <p:spPr>
          <a:xfrm>
            <a:off x="1097280" y="24094440"/>
            <a:ext cx="2300539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 achieved.  </a:t>
            </a:r>
            <a:pPr algn="l" indent="0" marL="0">
              <a:spcAft>
                <a:spcPts val="600"/>
              </a:spcAft>
              <a:buNone/>
            </a:pPr>
            <a:r>
              <a:rPr lang="en-US" sz="3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five objectives in §1 were met: trained Isolation Forest (ROC-AUC 0.996); deterministic mapper covering three MITRE techniques; AG2 triage agent grounded in mapper output (100 % faithfulness on 20-sample manual review); Chainlit MVP with JSONL audit log; quantitative evaluation on held-out data and four scripted scenarios.</a:t>
            </a:r>
            <a:endParaRPr lang="en-US" sz="3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to targets.  </a:t>
            </a:r>
            <a:pPr algn="l" indent="0" marL="0">
              <a:spcAft>
                <a:spcPts val="600"/>
              </a:spcAft>
              <a:buNone/>
            </a:pPr>
            <a:r>
              <a:rPr lang="en-US" sz="3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was to *approach* a supervised baseline without using labels at training. The unsupervised model reaches recall 0.95 while training on benign rows only - matching the project pitch. The model is strongest where the signal is loud (T1110 variants, 100 % recall) and weakest where the signal is genuinely sparse (T1078, 64 %). This honest gradient is a *result*, not a defect - it tells the SOC operator exactly where to deploy compensating controls.</a:t>
            </a:r>
            <a:endParaRPr lang="en-US" sz="3400" dirty="0"/>
          </a:p>
        </p:txBody>
      </p:sp>
      <p:sp>
        <p:nvSpPr>
          <p:cNvPr id="55" name="Shape 52"/>
          <p:cNvSpPr/>
          <p:nvPr/>
        </p:nvSpPr>
        <p:spPr>
          <a:xfrm>
            <a:off x="640080" y="28346400"/>
            <a:ext cx="23919790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40080" y="28346400"/>
            <a:ext cx="164592" cy="9601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1051560" y="28346400"/>
            <a:ext cx="234625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Discussions &amp; Future Work</a:t>
            </a:r>
            <a:endParaRPr lang="en-US" sz="5400" dirty="0"/>
          </a:p>
        </p:txBody>
      </p:sp>
      <p:sp>
        <p:nvSpPr>
          <p:cNvPr id="58" name="Shape 55"/>
          <p:cNvSpPr/>
          <p:nvPr/>
        </p:nvSpPr>
        <p:spPr>
          <a:xfrm>
            <a:off x="640080" y="29397960"/>
            <a:ext cx="23919790" cy="5961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9" name="Text 56"/>
          <p:cNvSpPr/>
          <p:nvPr/>
        </p:nvSpPr>
        <p:spPr>
          <a:xfrm>
            <a:off x="1097280" y="29718000"/>
            <a:ext cx="17336110" cy="5321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iterations.</a:t>
            </a:r>
            <a:endParaRPr lang="en-US" sz="3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3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algn="l" indent="0" marL="0">
              <a:spcAft>
                <a:spcPts val="400"/>
              </a:spcAft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Cross-event correlation.  </a:t>
            </a:r>
            <a:pPr algn="l" indent="0" marL="0">
              <a:spcAft>
                <a:spcPts val="400"/>
              </a:spcAft>
              <a:buNone/>
            </a:pPr>
            <a:r>
              <a:rPr lang="en-US" sz="3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0 % detection on the evasive T1078 scenario is the limit of per-event reasoning. Adding impossible-travel and first-time-from-this-IP-ever signals defeats the Volt-Typhoon SOHO-router playbook.</a:t>
            </a:r>
            <a:endParaRPr lang="en-US" sz="3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3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algn="l" indent="0" marL="0">
              <a:spcAft>
                <a:spcPts val="400"/>
              </a:spcAft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data feed.  </a:t>
            </a:r>
            <a:pPr algn="l" indent="0" marL="0">
              <a:spcAft>
                <a:spcPts val="400"/>
              </a:spcAft>
              <a:buNone/>
            </a:pPr>
            <a:r>
              <a:rPr lang="en-US" sz="3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synthetic generator with a 30-day rolling window of the customer's own auth logs and add drift monitoring on feature distributions.</a:t>
            </a:r>
            <a:endParaRPr lang="en-US" sz="3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3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algn="l" indent="0" marL="0">
              <a:spcAft>
                <a:spcPts val="400"/>
              </a:spcAft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Mapper expansion.  </a:t>
            </a:r>
            <a:pPr algn="l" indent="0" marL="0">
              <a:spcAft>
                <a:spcPts val="400"/>
              </a:spcAft>
              <a:buNone/>
            </a:pPr>
            <a:r>
              <a:rPr lang="en-US" sz="3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top-20 enterprise MITRE techniques; route low-confidence cases to a retrieval-augmented LLM call grounded in STIX.</a:t>
            </a:r>
            <a:endParaRPr lang="en-US" sz="3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3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algn="l" indent="0" marL="0">
              <a:spcAft>
                <a:spcPts val="400"/>
              </a:spcAft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grouping.  </a:t>
            </a:r>
            <a:pPr algn="l" indent="0" marL="0">
              <a:spcAft>
                <a:spcPts val="400"/>
              </a:spcAft>
              <a:buNone/>
            </a:pPr>
            <a:r>
              <a:rPr lang="en-US" sz="3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correlated events keyed on source IP / user over a sliding window into single incidents.</a:t>
            </a:r>
            <a:endParaRPr lang="en-US" sz="3400" dirty="0"/>
          </a:p>
        </p:txBody>
      </p:sp>
      <p:sp>
        <p:nvSpPr>
          <p:cNvPr id="60" name="Shape 57"/>
          <p:cNvSpPr/>
          <p:nvPr/>
        </p:nvSpPr>
        <p:spPr>
          <a:xfrm>
            <a:off x="18524830" y="29809440"/>
            <a:ext cx="5486400" cy="504748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18524830" y="29809440"/>
            <a:ext cx="5486400" cy="16459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18799150" y="3012948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</a:t>
            </a:r>
            <a:endParaRPr lang="en-US" sz="3400" dirty="0"/>
          </a:p>
        </p:txBody>
      </p:sp>
      <p:sp>
        <p:nvSpPr>
          <p:cNvPr id="63" name="Shape 60"/>
          <p:cNvSpPr/>
          <p:nvPr/>
        </p:nvSpPr>
        <p:spPr>
          <a:xfrm>
            <a:off x="19713550" y="30861000"/>
            <a:ext cx="31089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9713550" y="3086100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20490790" y="3086100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1268030" y="3086100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2045270" y="3086100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20102170" y="3124962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20879410" y="3124962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21656650" y="3124962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22433890" y="3124962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19713550" y="3163824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20490790" y="3163824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21268030" y="3163824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22045270" y="3163824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20102170" y="3202686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0879410" y="3202686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21656650" y="3202686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22433890" y="3202686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19713550" y="3241548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20490790" y="3241548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21268030" y="3241548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22045270" y="3241548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20102170" y="3280410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20879410" y="3280410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21656650" y="3280410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22433890" y="3280410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19713550" y="3319272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20490790" y="3319272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21268030" y="3319272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2045270" y="3319272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20102170" y="3358134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>
            <a:off x="20879410" y="3358134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21656650" y="3358134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22433890" y="3358134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19713550" y="30861000"/>
            <a:ext cx="1165860" cy="116586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19907860" y="31055310"/>
            <a:ext cx="7772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20102170" y="3124962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21656650" y="30861000"/>
            <a:ext cx="1165860" cy="116586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21850960" y="31055310"/>
            <a:ext cx="7772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22045270" y="3124962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19713550" y="32804100"/>
            <a:ext cx="1165860" cy="116586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19907860" y="32998410"/>
            <a:ext cx="7772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20102170" y="33192720"/>
            <a:ext cx="38862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05" name="Text 102"/>
          <p:cNvSpPr/>
          <p:nvPr/>
        </p:nvSpPr>
        <p:spPr>
          <a:xfrm>
            <a:off x="19713550" y="340614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Replace with QR ]</a:t>
            </a:r>
            <a:endParaRPr lang="en-US" sz="2200" dirty="0"/>
          </a:p>
        </p:txBody>
      </p:sp>
      <p:sp>
        <p:nvSpPr>
          <p:cNvPr id="106" name="Text 103"/>
          <p:cNvSpPr/>
          <p:nvPr/>
        </p:nvSpPr>
        <p:spPr>
          <a:xfrm>
            <a:off x="18799150" y="344728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repository</a:t>
            </a:r>
            <a:endParaRPr lang="en-US" sz="3000" dirty="0"/>
          </a:p>
        </p:txBody>
      </p:sp>
      <p:sp>
        <p:nvSpPr>
          <p:cNvPr id="107" name="Text 104"/>
          <p:cNvSpPr/>
          <p:nvPr/>
        </p:nvSpPr>
        <p:spPr>
          <a:xfrm>
            <a:off x="18799150" y="34930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github.com/steve2great/HIT-ai-cybersecurity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SOC-Copilot - AI-Assisted Triage for Authentication Anomalies</dc:title>
  <dc:subject>PptxGenJS Presentation</dc:subject>
  <dc:creator>Stav Hefetz &amp; Bar Koldanov</dc:creator>
  <cp:lastModifiedBy>Stav Hefetz &amp; Bar Koldanov</cp:lastModifiedBy>
  <cp:revision>1</cp:revision>
  <dcterms:created xsi:type="dcterms:W3CDTF">2026-06-20T10:41:12Z</dcterms:created>
  <dcterms:modified xsi:type="dcterms:W3CDTF">2026-06-20T10:41:12Z</dcterms:modified>
</cp:coreProperties>
</file>